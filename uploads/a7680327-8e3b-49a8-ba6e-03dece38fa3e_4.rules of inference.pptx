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9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6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1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2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4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3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0D56E-25AE-4B8C-9003-F558366504F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40C01-7C8A-4F71-B884-CABC12FB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4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00400" y="161790"/>
            <a:ext cx="2480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Rules of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35527" y="623455"/>
            <a:ext cx="8763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Inference:</a:t>
            </a:r>
          </a:p>
          <a:p>
            <a:r>
              <a:rPr lang="en-US" dirty="0"/>
              <a:t>In artificial intelligence, we need intelligent computers which can create new logic from old logic or by evidence, </a:t>
            </a:r>
            <a:r>
              <a:rPr lang="en-US" b="1" dirty="0"/>
              <a:t>so generating the conclusions from evidence and facts is termed as Inference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Inference rules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Inference rules are the templates for generating valid arguments. Inference rules are applied to derive proofs in artificial intelligence, and the proof is a sequence of the conclusion that leads to the desired goal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inference rules, the implication among all the connectives plays an important role. 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Following </a:t>
            </a:r>
            <a:r>
              <a:rPr lang="en-US" b="1" dirty="0">
                <a:solidFill>
                  <a:srgbClr val="FF0000"/>
                </a:solidFill>
              </a:rPr>
              <a:t>are some terminologies related to inference rules:</a:t>
            </a:r>
          </a:p>
          <a:p>
            <a:r>
              <a:rPr lang="en-US" b="1" dirty="0"/>
              <a:t>Implication:</a:t>
            </a:r>
            <a:r>
              <a:rPr lang="en-US" dirty="0"/>
              <a:t> It is one of the logical connectives which can be represented as P → Q. It is a Boolean expression.</a:t>
            </a:r>
          </a:p>
          <a:p>
            <a:r>
              <a:rPr lang="en-US" b="1" dirty="0"/>
              <a:t>Converse:</a:t>
            </a:r>
            <a:r>
              <a:rPr lang="en-US" dirty="0"/>
              <a:t> The converse of implication, which means the right-hand side proposition goes to the left-hand side and vice-versa. It can be written as Q → P.</a:t>
            </a:r>
          </a:p>
          <a:p>
            <a:r>
              <a:rPr lang="en-US" b="1" dirty="0"/>
              <a:t>Contrapositive:</a:t>
            </a:r>
            <a:r>
              <a:rPr lang="en-US" dirty="0"/>
              <a:t> The negation of converse is termed as contrapositive, and it can be represented as ¬ Q → ¬ P.</a:t>
            </a:r>
          </a:p>
          <a:p>
            <a:r>
              <a:rPr lang="en-US" b="1" dirty="0"/>
              <a:t>Inverse:</a:t>
            </a:r>
            <a:r>
              <a:rPr lang="en-US" dirty="0"/>
              <a:t> The negation of implication is called inverse. It can be represented as ¬ P → ¬ Q.</a:t>
            </a:r>
          </a:p>
        </p:txBody>
      </p:sp>
    </p:spTree>
    <p:extLst>
      <p:ext uri="{BB962C8B-B14F-4D97-AF65-F5344CB8AC3E}">
        <p14:creationId xmlns:p14="http://schemas.microsoft.com/office/powerpoint/2010/main" val="77245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7620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Modus </a:t>
            </a:r>
            <a:r>
              <a:rPr lang="en-US" b="1" dirty="0"/>
              <a:t>Ponens</a:t>
            </a:r>
            <a:r>
              <a:rPr lang="en-US" b="1" dirty="0" smtClean="0"/>
              <a:t>: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r>
              <a:rPr lang="en-US" dirty="0"/>
              <a:t>The Modus Ponens rule is one of the most important rules of inference, and it states that if P and P → Q is true, then we can infer that Q will be true. It can be represented as: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392668"/>
            <a:ext cx="2516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Types of Inference rules:</a:t>
            </a:r>
            <a:endParaRPr lang="en-US" b="1" dirty="0"/>
          </a:p>
        </p:txBody>
      </p:sp>
      <p:pic>
        <p:nvPicPr>
          <p:cNvPr id="1027" name="Picture 3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48" y="2286000"/>
            <a:ext cx="8531679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0648" y="3073063"/>
            <a:ext cx="85247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Statement-1: "If I am sleepy then I go to bed" ==&gt; P→ Q</a:t>
            </a:r>
            <a:br>
              <a:rPr lang="en-US" dirty="0"/>
            </a:br>
            <a:r>
              <a:rPr lang="en-US" dirty="0"/>
              <a:t>Statement-2: "I am sleepy" ==&gt; P</a:t>
            </a:r>
            <a:br>
              <a:rPr lang="en-US" dirty="0"/>
            </a:br>
            <a:r>
              <a:rPr lang="en-US" dirty="0"/>
              <a:t>Conclusion: "I go to bed." ==&gt; Q.</a:t>
            </a:r>
            <a:br>
              <a:rPr lang="en-US" dirty="0"/>
            </a:br>
            <a:r>
              <a:rPr lang="en-US" dirty="0"/>
              <a:t>Hence, we can say that, if P→ Q is true and P is true then Q will be true.</a:t>
            </a:r>
          </a:p>
        </p:txBody>
      </p:sp>
      <p:pic>
        <p:nvPicPr>
          <p:cNvPr id="1028" name="Picture 4" descr="C:\Users\sony\Desktop\rules-of-inference-in-ai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4" y="4932794"/>
            <a:ext cx="6601476" cy="154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62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945" y="76200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Modus Tollens:</a:t>
            </a:r>
          </a:p>
          <a:p>
            <a:r>
              <a:rPr lang="en-US" dirty="0"/>
              <a:t>The Modus Tollens rule state that if P→ Q is true and </a:t>
            </a:r>
            <a:r>
              <a:rPr lang="en-US" b="1" dirty="0"/>
              <a:t>¬ Q is true, then ¬ P</a:t>
            </a:r>
            <a:r>
              <a:rPr lang="en-US" dirty="0"/>
              <a:t> will also true. It can be represented as:</a:t>
            </a:r>
          </a:p>
        </p:txBody>
      </p:sp>
      <p:pic>
        <p:nvPicPr>
          <p:cNvPr id="2050" name="Picture 2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7" y="2060864"/>
            <a:ext cx="828843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3035055"/>
            <a:ext cx="792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Statement-1:</a:t>
            </a:r>
            <a:r>
              <a:rPr lang="en-US" dirty="0"/>
              <a:t> "If I am sleepy then I go to bed" ==&gt; P→ Q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Statement-2:</a:t>
            </a:r>
            <a:r>
              <a:rPr lang="en-US" dirty="0"/>
              <a:t> "I do not go to the bed."==&gt; ~Q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Statement-3:</a:t>
            </a:r>
            <a:r>
              <a:rPr lang="en-US" dirty="0"/>
              <a:t> Which infers that "</a:t>
            </a:r>
            <a:r>
              <a:rPr lang="en-US" b="1" dirty="0"/>
              <a:t>I am not sleepy</a:t>
            </a:r>
            <a:r>
              <a:rPr lang="en-US" dirty="0"/>
              <a:t>" =&gt; ~P</a:t>
            </a:r>
          </a:p>
        </p:txBody>
      </p:sp>
      <p:pic>
        <p:nvPicPr>
          <p:cNvPr id="2051" name="Picture 3" descr="C:\Users\sony\Desktop\Cap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7" y="4572000"/>
            <a:ext cx="8758583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2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458763"/>
            <a:ext cx="8610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Hypothetical Syllogism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r>
              <a:rPr lang="en-US" dirty="0"/>
              <a:t>The Hypothetical Syllogism rule state that if P→R is true whenever P→Q is true, and Q→R is true. It can be represented as the following notation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b="1" dirty="0"/>
              <a:t>Statement-1:</a:t>
            </a:r>
            <a:r>
              <a:rPr lang="en-US" dirty="0"/>
              <a:t> If you have my home key then you can unlock my home. </a:t>
            </a:r>
            <a:r>
              <a:rPr lang="en-US" b="1" dirty="0"/>
              <a:t>P→Q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Statement-2:</a:t>
            </a:r>
            <a:r>
              <a:rPr lang="en-US" dirty="0"/>
              <a:t> If you can unlock my home then you can take my money. </a:t>
            </a:r>
            <a:r>
              <a:rPr lang="en-US" b="1" dirty="0"/>
              <a:t>Q→R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Conclusion:</a:t>
            </a:r>
            <a:r>
              <a:rPr lang="en-US" dirty="0"/>
              <a:t> If you have my home key then you can take my money. </a:t>
            </a:r>
            <a:r>
              <a:rPr lang="en-US" b="1" dirty="0"/>
              <a:t>P→R</a:t>
            </a:r>
            <a:endParaRPr lang="en-US" dirty="0"/>
          </a:p>
        </p:txBody>
      </p:sp>
      <p:pic>
        <p:nvPicPr>
          <p:cNvPr id="3074" name="Picture 2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9" y="3415145"/>
            <a:ext cx="8150226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37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3820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Disjunctive Syllogism:</a:t>
            </a:r>
          </a:p>
          <a:p>
            <a:r>
              <a:rPr lang="en-US" dirty="0"/>
              <a:t>The Disjunctive syllogism rule state that if P∨Q is true, and ¬P is true, then Q will be true. It can be represented as:</a:t>
            </a:r>
          </a:p>
        </p:txBody>
      </p:sp>
      <p:pic>
        <p:nvPicPr>
          <p:cNvPr id="4098" name="Picture 2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66900"/>
            <a:ext cx="7790329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5582" y="2730255"/>
            <a:ext cx="82850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endParaRPr lang="en-US" dirty="0"/>
          </a:p>
          <a:p>
            <a:r>
              <a:rPr lang="en-US" b="1" dirty="0"/>
              <a:t>Statement-1:</a:t>
            </a:r>
            <a:r>
              <a:rPr lang="en-US" dirty="0"/>
              <a:t> Today is Sunday or Monday. ==&gt;P∨Q</a:t>
            </a:r>
            <a:br>
              <a:rPr lang="en-US" dirty="0"/>
            </a:br>
            <a:r>
              <a:rPr lang="en-US" b="1" dirty="0"/>
              <a:t>Statement-2:</a:t>
            </a:r>
            <a:r>
              <a:rPr lang="en-US" dirty="0"/>
              <a:t> Today is not Sunday. ==&gt; ¬P</a:t>
            </a:r>
            <a:br>
              <a:rPr lang="en-US" dirty="0"/>
            </a:br>
            <a:r>
              <a:rPr lang="en-US" b="1" dirty="0"/>
              <a:t>Conclusion:</a:t>
            </a:r>
            <a:r>
              <a:rPr lang="en-US" dirty="0"/>
              <a:t> Today is Monday. ==&gt; Q</a:t>
            </a:r>
          </a:p>
        </p:txBody>
      </p:sp>
      <p:pic>
        <p:nvPicPr>
          <p:cNvPr id="4099" name="Picture 3" descr="C:\Users\sony\Desktop\Cap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43400"/>
            <a:ext cx="838601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35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09600"/>
            <a:ext cx="8763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Addition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r>
              <a:rPr lang="en-US" dirty="0"/>
              <a:t>The Addition rule is one the common inference rule, and it states that If P is true, then P∨Q will be true.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09800"/>
            <a:ext cx="7018663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600" y="3886200"/>
            <a:ext cx="8610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6. Simplification:</a:t>
            </a:r>
          </a:p>
          <a:p>
            <a:r>
              <a:rPr lang="en-US" dirty="0"/>
              <a:t>The simplification rule state that if </a:t>
            </a:r>
            <a:r>
              <a:rPr lang="en-US" b="1" dirty="0"/>
              <a:t>P∧ Q</a:t>
            </a:r>
            <a:r>
              <a:rPr lang="en-US" dirty="0"/>
              <a:t> is true, then </a:t>
            </a:r>
            <a:r>
              <a:rPr lang="en-US" b="1" dirty="0"/>
              <a:t>Q or P</a:t>
            </a:r>
            <a:r>
              <a:rPr lang="en-US" dirty="0"/>
              <a:t> will also be true. It can be represented as: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3" name="Picture 3" descr="C:\Users\sony\Desktop\Cap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3" y="5068598"/>
            <a:ext cx="6657976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49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09600"/>
            <a:ext cx="8610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7. Resolution:</a:t>
            </a:r>
          </a:p>
          <a:p>
            <a:r>
              <a:rPr lang="en-US" dirty="0"/>
              <a:t>The Resolution rule state that if P∨Q and ¬ P∧R is true, then Q∨R will also be true. </a:t>
            </a:r>
            <a:r>
              <a:rPr lang="en-US" b="1" dirty="0"/>
              <a:t>It can be represented as</a:t>
            </a:r>
            <a:endParaRPr lang="en-US" dirty="0"/>
          </a:p>
        </p:txBody>
      </p:sp>
      <p:pic>
        <p:nvPicPr>
          <p:cNvPr id="6146" name="Picture 2" descr="C:\Users\sony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70" y="1828800"/>
            <a:ext cx="588645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sony\Desktop\Cap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819400"/>
            <a:ext cx="79947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16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270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sony</cp:lastModifiedBy>
  <cp:revision>1</cp:revision>
  <dcterms:created xsi:type="dcterms:W3CDTF">2022-03-29T18:03:47Z</dcterms:created>
  <dcterms:modified xsi:type="dcterms:W3CDTF">2022-03-29T18:25:20Z</dcterms:modified>
</cp:coreProperties>
</file>